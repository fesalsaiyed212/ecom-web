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B5AABF-C0B1-4B17-ADAD-0BCE96C3D1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033F702-3D1E-4110-B391-E0AFF504CD33}">
      <dgm:prSet/>
      <dgm:spPr/>
      <dgm:t>
        <a:bodyPr/>
        <a:lstStyle/>
        <a:p>
          <a:pPr>
            <a:defRPr cap="all"/>
          </a:pPr>
          <a:r>
            <a:rPr lang="en-US"/>
            <a:t>Orders stored in MySQL.</a:t>
          </a:r>
        </a:p>
      </dgm:t>
    </dgm:pt>
    <dgm:pt modelId="{6E8FC0E9-1CB0-4073-AE06-9ECF4D7E0804}" type="parTrans" cxnId="{2E6AD53D-685A-47A7-B620-E2EB5740DD79}">
      <dgm:prSet/>
      <dgm:spPr/>
      <dgm:t>
        <a:bodyPr/>
        <a:lstStyle/>
        <a:p>
          <a:endParaRPr lang="en-US"/>
        </a:p>
      </dgm:t>
    </dgm:pt>
    <dgm:pt modelId="{8C6A4539-F2B7-4030-8AF0-D548E2862776}" type="sibTrans" cxnId="{2E6AD53D-685A-47A7-B620-E2EB5740DD79}">
      <dgm:prSet/>
      <dgm:spPr/>
      <dgm:t>
        <a:bodyPr/>
        <a:lstStyle/>
        <a:p>
          <a:endParaRPr lang="en-US"/>
        </a:p>
      </dgm:t>
    </dgm:pt>
    <dgm:pt modelId="{FF1B9060-88D2-482A-964E-2070C0FD317A}">
      <dgm:prSet/>
      <dgm:spPr/>
      <dgm:t>
        <a:bodyPr/>
        <a:lstStyle/>
        <a:p>
          <a:pPr>
            <a:defRPr cap="all"/>
          </a:pPr>
          <a:r>
            <a:rPr lang="en-US"/>
            <a:t>Example:</a:t>
          </a:r>
        </a:p>
      </dgm:t>
    </dgm:pt>
    <dgm:pt modelId="{7D03F96C-A50D-4B8D-AB28-DC4F5B5D4427}" type="parTrans" cxnId="{9C536D28-2D7C-4B37-98B0-0B7F85519A23}">
      <dgm:prSet/>
      <dgm:spPr/>
      <dgm:t>
        <a:bodyPr/>
        <a:lstStyle/>
        <a:p>
          <a:endParaRPr lang="en-US"/>
        </a:p>
      </dgm:t>
    </dgm:pt>
    <dgm:pt modelId="{3356609D-49D0-4D15-A5DB-6BF2070B5ED2}" type="sibTrans" cxnId="{9C536D28-2D7C-4B37-98B0-0B7F85519A23}">
      <dgm:prSet/>
      <dgm:spPr/>
      <dgm:t>
        <a:bodyPr/>
        <a:lstStyle/>
        <a:p>
          <a:endParaRPr lang="en-US"/>
        </a:p>
      </dgm:t>
    </dgm:pt>
    <dgm:pt modelId="{8EC47DA6-0F38-4817-81D5-F971E38FF597}">
      <dgm:prSet/>
      <dgm:spPr/>
      <dgm:t>
        <a:bodyPr/>
        <a:lstStyle/>
        <a:p>
          <a:pPr>
            <a:defRPr cap="all"/>
          </a:pPr>
          <a:r>
            <a:rPr lang="en-US"/>
            <a:t>INSERT INTO orders (user_id,total) VALUES (1,2499);</a:t>
          </a:r>
        </a:p>
      </dgm:t>
    </dgm:pt>
    <dgm:pt modelId="{287AC2DB-0ED1-43A7-80FE-66753D3B21F3}" type="parTrans" cxnId="{B78974EC-CBC4-48E1-832F-2A564F53EAE7}">
      <dgm:prSet/>
      <dgm:spPr/>
      <dgm:t>
        <a:bodyPr/>
        <a:lstStyle/>
        <a:p>
          <a:endParaRPr lang="en-US"/>
        </a:p>
      </dgm:t>
    </dgm:pt>
    <dgm:pt modelId="{36AC2B4C-CF28-4886-82FB-61ACBDDE1B11}" type="sibTrans" cxnId="{B78974EC-CBC4-48E1-832F-2A564F53EAE7}">
      <dgm:prSet/>
      <dgm:spPr/>
      <dgm:t>
        <a:bodyPr/>
        <a:lstStyle/>
        <a:p>
          <a:endParaRPr lang="en-US"/>
        </a:p>
      </dgm:t>
    </dgm:pt>
    <dgm:pt modelId="{723E778A-74F0-4261-A3E6-588686D11F29}" type="pres">
      <dgm:prSet presAssocID="{21B5AABF-C0B1-4B17-ADAD-0BCE96C3D1C6}" presName="root" presStyleCnt="0">
        <dgm:presLayoutVars>
          <dgm:dir/>
          <dgm:resizeHandles val="exact"/>
        </dgm:presLayoutVars>
      </dgm:prSet>
      <dgm:spPr/>
    </dgm:pt>
    <dgm:pt modelId="{41579A2E-ED61-4FAA-96C1-2D1234749947}" type="pres">
      <dgm:prSet presAssocID="{E033F702-3D1E-4110-B391-E0AFF504CD33}" presName="compNode" presStyleCnt="0"/>
      <dgm:spPr/>
    </dgm:pt>
    <dgm:pt modelId="{ECC3F134-B0CE-46EC-A52E-23150173022B}" type="pres">
      <dgm:prSet presAssocID="{E033F702-3D1E-4110-B391-E0AFF504CD33}" presName="iconBgRect" presStyleLbl="bgShp" presStyleIdx="0" presStyleCnt="3"/>
      <dgm:spPr/>
    </dgm:pt>
    <dgm:pt modelId="{DB4BA1F2-961C-49B6-9DE2-8289E8625370}" type="pres">
      <dgm:prSet presAssocID="{E033F702-3D1E-4110-B391-E0AFF504CD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22F88BC-B418-4C6C-9B09-571B97769619}" type="pres">
      <dgm:prSet presAssocID="{E033F702-3D1E-4110-B391-E0AFF504CD33}" presName="spaceRect" presStyleCnt="0"/>
      <dgm:spPr/>
    </dgm:pt>
    <dgm:pt modelId="{34EC7A53-4E11-458B-9C17-7467F5F77101}" type="pres">
      <dgm:prSet presAssocID="{E033F702-3D1E-4110-B391-E0AFF504CD33}" presName="textRect" presStyleLbl="revTx" presStyleIdx="0" presStyleCnt="3">
        <dgm:presLayoutVars>
          <dgm:chMax val="1"/>
          <dgm:chPref val="1"/>
        </dgm:presLayoutVars>
      </dgm:prSet>
      <dgm:spPr/>
    </dgm:pt>
    <dgm:pt modelId="{A4BA783A-9358-4F58-9FDE-B316FE523C65}" type="pres">
      <dgm:prSet presAssocID="{8C6A4539-F2B7-4030-8AF0-D548E2862776}" presName="sibTrans" presStyleCnt="0"/>
      <dgm:spPr/>
    </dgm:pt>
    <dgm:pt modelId="{D16730A7-CD76-460F-9247-3A346E442C7E}" type="pres">
      <dgm:prSet presAssocID="{FF1B9060-88D2-482A-964E-2070C0FD317A}" presName="compNode" presStyleCnt="0"/>
      <dgm:spPr/>
    </dgm:pt>
    <dgm:pt modelId="{58FC9F8D-8289-466B-9B23-1CA2DF837E08}" type="pres">
      <dgm:prSet presAssocID="{FF1B9060-88D2-482A-964E-2070C0FD317A}" presName="iconBgRect" presStyleLbl="bgShp" presStyleIdx="1" presStyleCnt="3"/>
      <dgm:spPr/>
    </dgm:pt>
    <dgm:pt modelId="{DFCE7FA7-EFF7-4A79-BC36-E68E19EEEF59}" type="pres">
      <dgm:prSet presAssocID="{FF1B9060-88D2-482A-964E-2070C0FD31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266787C-489C-46C1-A32B-FCFE30073862}" type="pres">
      <dgm:prSet presAssocID="{FF1B9060-88D2-482A-964E-2070C0FD317A}" presName="spaceRect" presStyleCnt="0"/>
      <dgm:spPr/>
    </dgm:pt>
    <dgm:pt modelId="{E234C9DB-47D5-4FDF-B3EE-0D96D67C0BA3}" type="pres">
      <dgm:prSet presAssocID="{FF1B9060-88D2-482A-964E-2070C0FD317A}" presName="textRect" presStyleLbl="revTx" presStyleIdx="1" presStyleCnt="3">
        <dgm:presLayoutVars>
          <dgm:chMax val="1"/>
          <dgm:chPref val="1"/>
        </dgm:presLayoutVars>
      </dgm:prSet>
      <dgm:spPr/>
    </dgm:pt>
    <dgm:pt modelId="{D7E367FD-3EB8-4AF3-A622-448F6180AE24}" type="pres">
      <dgm:prSet presAssocID="{3356609D-49D0-4D15-A5DB-6BF2070B5ED2}" presName="sibTrans" presStyleCnt="0"/>
      <dgm:spPr/>
    </dgm:pt>
    <dgm:pt modelId="{5457929F-384C-41E5-982D-6E3301C245FF}" type="pres">
      <dgm:prSet presAssocID="{8EC47DA6-0F38-4817-81D5-F971E38FF597}" presName="compNode" presStyleCnt="0"/>
      <dgm:spPr/>
    </dgm:pt>
    <dgm:pt modelId="{0CAA38D6-6E98-4E5C-9BDF-698BC3215EED}" type="pres">
      <dgm:prSet presAssocID="{8EC47DA6-0F38-4817-81D5-F971E38FF597}" presName="iconBgRect" presStyleLbl="bgShp" presStyleIdx="2" presStyleCnt="3"/>
      <dgm:spPr/>
    </dgm:pt>
    <dgm:pt modelId="{EFEE9CCF-CE60-4753-AEBE-56297B29789F}" type="pres">
      <dgm:prSet presAssocID="{8EC47DA6-0F38-4817-81D5-F971E38FF5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DF39A82-2228-4259-B0BD-28E928C23314}" type="pres">
      <dgm:prSet presAssocID="{8EC47DA6-0F38-4817-81D5-F971E38FF597}" presName="spaceRect" presStyleCnt="0"/>
      <dgm:spPr/>
    </dgm:pt>
    <dgm:pt modelId="{128CE508-E1AE-4AE6-815F-45FEDC349F70}" type="pres">
      <dgm:prSet presAssocID="{8EC47DA6-0F38-4817-81D5-F971E38FF59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BB9971F-CA18-4419-A8AD-4039DAD6ECA2}" type="presOf" srcId="{FF1B9060-88D2-482A-964E-2070C0FD317A}" destId="{E234C9DB-47D5-4FDF-B3EE-0D96D67C0BA3}" srcOrd="0" destOrd="0" presId="urn:microsoft.com/office/officeart/2018/5/layout/IconCircleLabelList"/>
    <dgm:cxn modelId="{9C536D28-2D7C-4B37-98B0-0B7F85519A23}" srcId="{21B5AABF-C0B1-4B17-ADAD-0BCE96C3D1C6}" destId="{FF1B9060-88D2-482A-964E-2070C0FD317A}" srcOrd="1" destOrd="0" parTransId="{7D03F96C-A50D-4B8D-AB28-DC4F5B5D4427}" sibTransId="{3356609D-49D0-4D15-A5DB-6BF2070B5ED2}"/>
    <dgm:cxn modelId="{2E6AD53D-685A-47A7-B620-E2EB5740DD79}" srcId="{21B5AABF-C0B1-4B17-ADAD-0BCE96C3D1C6}" destId="{E033F702-3D1E-4110-B391-E0AFF504CD33}" srcOrd="0" destOrd="0" parTransId="{6E8FC0E9-1CB0-4073-AE06-9ECF4D7E0804}" sibTransId="{8C6A4539-F2B7-4030-8AF0-D548E2862776}"/>
    <dgm:cxn modelId="{EB7F24AA-8CB6-4E6B-9875-60D06500E42F}" type="presOf" srcId="{21B5AABF-C0B1-4B17-ADAD-0BCE96C3D1C6}" destId="{723E778A-74F0-4261-A3E6-588686D11F29}" srcOrd="0" destOrd="0" presId="urn:microsoft.com/office/officeart/2018/5/layout/IconCircleLabelList"/>
    <dgm:cxn modelId="{79ACF2C1-11BA-4AF4-A78F-B1831A1DA898}" type="presOf" srcId="{E033F702-3D1E-4110-B391-E0AFF504CD33}" destId="{34EC7A53-4E11-458B-9C17-7467F5F77101}" srcOrd="0" destOrd="0" presId="urn:microsoft.com/office/officeart/2018/5/layout/IconCircleLabelList"/>
    <dgm:cxn modelId="{B78974EC-CBC4-48E1-832F-2A564F53EAE7}" srcId="{21B5AABF-C0B1-4B17-ADAD-0BCE96C3D1C6}" destId="{8EC47DA6-0F38-4817-81D5-F971E38FF597}" srcOrd="2" destOrd="0" parTransId="{287AC2DB-0ED1-43A7-80FE-66753D3B21F3}" sibTransId="{36AC2B4C-CF28-4886-82FB-61ACBDDE1B11}"/>
    <dgm:cxn modelId="{3E8FFFEF-C7AB-4A1F-B192-1C573CD78ADE}" type="presOf" srcId="{8EC47DA6-0F38-4817-81D5-F971E38FF597}" destId="{128CE508-E1AE-4AE6-815F-45FEDC349F70}" srcOrd="0" destOrd="0" presId="urn:microsoft.com/office/officeart/2018/5/layout/IconCircleLabelList"/>
    <dgm:cxn modelId="{0A259E81-1ECE-4D7D-8A85-2B00733FCEAC}" type="presParOf" srcId="{723E778A-74F0-4261-A3E6-588686D11F29}" destId="{41579A2E-ED61-4FAA-96C1-2D1234749947}" srcOrd="0" destOrd="0" presId="urn:microsoft.com/office/officeart/2018/5/layout/IconCircleLabelList"/>
    <dgm:cxn modelId="{98BBDDB3-3C03-4446-B968-647CCE8A612E}" type="presParOf" srcId="{41579A2E-ED61-4FAA-96C1-2D1234749947}" destId="{ECC3F134-B0CE-46EC-A52E-23150173022B}" srcOrd="0" destOrd="0" presId="urn:microsoft.com/office/officeart/2018/5/layout/IconCircleLabelList"/>
    <dgm:cxn modelId="{7C2FA21F-070F-4A86-AD5B-665702678883}" type="presParOf" srcId="{41579A2E-ED61-4FAA-96C1-2D1234749947}" destId="{DB4BA1F2-961C-49B6-9DE2-8289E8625370}" srcOrd="1" destOrd="0" presId="urn:microsoft.com/office/officeart/2018/5/layout/IconCircleLabelList"/>
    <dgm:cxn modelId="{712E12EB-22ED-4F4B-883C-94AA925CD8D3}" type="presParOf" srcId="{41579A2E-ED61-4FAA-96C1-2D1234749947}" destId="{B22F88BC-B418-4C6C-9B09-571B97769619}" srcOrd="2" destOrd="0" presId="urn:microsoft.com/office/officeart/2018/5/layout/IconCircleLabelList"/>
    <dgm:cxn modelId="{5CD56404-C8FA-40F8-AB92-58C1FDAFD878}" type="presParOf" srcId="{41579A2E-ED61-4FAA-96C1-2D1234749947}" destId="{34EC7A53-4E11-458B-9C17-7467F5F77101}" srcOrd="3" destOrd="0" presId="urn:microsoft.com/office/officeart/2018/5/layout/IconCircleLabelList"/>
    <dgm:cxn modelId="{9A653BDF-B40E-4D3D-AD5E-9B6C1F055E68}" type="presParOf" srcId="{723E778A-74F0-4261-A3E6-588686D11F29}" destId="{A4BA783A-9358-4F58-9FDE-B316FE523C65}" srcOrd="1" destOrd="0" presId="urn:microsoft.com/office/officeart/2018/5/layout/IconCircleLabelList"/>
    <dgm:cxn modelId="{41FD7B6A-EA54-4E5E-905F-DF6CAFA82231}" type="presParOf" srcId="{723E778A-74F0-4261-A3E6-588686D11F29}" destId="{D16730A7-CD76-460F-9247-3A346E442C7E}" srcOrd="2" destOrd="0" presId="urn:microsoft.com/office/officeart/2018/5/layout/IconCircleLabelList"/>
    <dgm:cxn modelId="{99B7FB52-91B4-4643-9C0D-C95E7EE8B5B2}" type="presParOf" srcId="{D16730A7-CD76-460F-9247-3A346E442C7E}" destId="{58FC9F8D-8289-466B-9B23-1CA2DF837E08}" srcOrd="0" destOrd="0" presId="urn:microsoft.com/office/officeart/2018/5/layout/IconCircleLabelList"/>
    <dgm:cxn modelId="{FFA4AF3A-21B9-4FD4-AEEB-449460687D3F}" type="presParOf" srcId="{D16730A7-CD76-460F-9247-3A346E442C7E}" destId="{DFCE7FA7-EFF7-4A79-BC36-E68E19EEEF59}" srcOrd="1" destOrd="0" presId="urn:microsoft.com/office/officeart/2018/5/layout/IconCircleLabelList"/>
    <dgm:cxn modelId="{755CBDC0-8AFE-46E6-946B-C5CF8575C10C}" type="presParOf" srcId="{D16730A7-CD76-460F-9247-3A346E442C7E}" destId="{2266787C-489C-46C1-A32B-FCFE30073862}" srcOrd="2" destOrd="0" presId="urn:microsoft.com/office/officeart/2018/5/layout/IconCircleLabelList"/>
    <dgm:cxn modelId="{2C1B21FF-506C-454F-A86F-F5DC14EF3144}" type="presParOf" srcId="{D16730A7-CD76-460F-9247-3A346E442C7E}" destId="{E234C9DB-47D5-4FDF-B3EE-0D96D67C0BA3}" srcOrd="3" destOrd="0" presId="urn:microsoft.com/office/officeart/2018/5/layout/IconCircleLabelList"/>
    <dgm:cxn modelId="{EA5A48C6-16AC-4542-A49C-16C8A2CC29CD}" type="presParOf" srcId="{723E778A-74F0-4261-A3E6-588686D11F29}" destId="{D7E367FD-3EB8-4AF3-A622-448F6180AE24}" srcOrd="3" destOrd="0" presId="urn:microsoft.com/office/officeart/2018/5/layout/IconCircleLabelList"/>
    <dgm:cxn modelId="{283E90EC-2D0C-45A6-99EE-0C5F8D484B8F}" type="presParOf" srcId="{723E778A-74F0-4261-A3E6-588686D11F29}" destId="{5457929F-384C-41E5-982D-6E3301C245FF}" srcOrd="4" destOrd="0" presId="urn:microsoft.com/office/officeart/2018/5/layout/IconCircleLabelList"/>
    <dgm:cxn modelId="{A2C36B31-F28C-41AA-A938-8D31651D6ACD}" type="presParOf" srcId="{5457929F-384C-41E5-982D-6E3301C245FF}" destId="{0CAA38D6-6E98-4E5C-9BDF-698BC3215EED}" srcOrd="0" destOrd="0" presId="urn:microsoft.com/office/officeart/2018/5/layout/IconCircleLabelList"/>
    <dgm:cxn modelId="{06885D11-EDDD-424F-B245-9CFEEFFE62E5}" type="presParOf" srcId="{5457929F-384C-41E5-982D-6E3301C245FF}" destId="{EFEE9CCF-CE60-4753-AEBE-56297B29789F}" srcOrd="1" destOrd="0" presId="urn:microsoft.com/office/officeart/2018/5/layout/IconCircleLabelList"/>
    <dgm:cxn modelId="{49871AC4-165F-48F2-80D0-10DD3E6551EC}" type="presParOf" srcId="{5457929F-384C-41E5-982D-6E3301C245FF}" destId="{BDF39A82-2228-4259-B0BD-28E928C23314}" srcOrd="2" destOrd="0" presId="urn:microsoft.com/office/officeart/2018/5/layout/IconCircleLabelList"/>
    <dgm:cxn modelId="{71EC6CD6-B932-489E-911B-E4B918148AC3}" type="presParOf" srcId="{5457929F-384C-41E5-982D-6E3301C245FF}" destId="{128CE508-E1AE-4AE6-815F-45FEDC349F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3F134-B0CE-46EC-A52E-23150173022B}">
      <dsp:nvSpPr>
        <dsp:cNvPr id="0" name=""/>
        <dsp:cNvSpPr/>
      </dsp:nvSpPr>
      <dsp:spPr>
        <a:xfrm>
          <a:off x="530099" y="691938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BA1F2-961C-49B6-9DE2-8289E8625370}">
      <dsp:nvSpPr>
        <dsp:cNvPr id="0" name=""/>
        <dsp:cNvSpPr/>
      </dsp:nvSpPr>
      <dsp:spPr>
        <a:xfrm>
          <a:off x="829912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C7A53-4E11-458B-9C17-7467F5F77101}">
      <dsp:nvSpPr>
        <dsp:cNvPr id="0" name=""/>
        <dsp:cNvSpPr/>
      </dsp:nvSpPr>
      <dsp:spPr>
        <a:xfrm>
          <a:off x="80381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Orders stored in MySQL.</a:t>
          </a:r>
        </a:p>
      </dsp:txBody>
      <dsp:txXfrm>
        <a:off x="80381" y="2536938"/>
        <a:ext cx="2306250" cy="720000"/>
      </dsp:txXfrm>
    </dsp:sp>
    <dsp:sp modelId="{58FC9F8D-8289-466B-9B23-1CA2DF837E08}">
      <dsp:nvSpPr>
        <dsp:cNvPr id="0" name=""/>
        <dsp:cNvSpPr/>
      </dsp:nvSpPr>
      <dsp:spPr>
        <a:xfrm>
          <a:off x="3239943" y="691938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E7FA7-EFF7-4A79-BC36-E68E19EEEF59}">
      <dsp:nvSpPr>
        <dsp:cNvPr id="0" name=""/>
        <dsp:cNvSpPr/>
      </dsp:nvSpPr>
      <dsp:spPr>
        <a:xfrm>
          <a:off x="3539756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4C9DB-47D5-4FDF-B3EE-0D96D67C0BA3}">
      <dsp:nvSpPr>
        <dsp:cNvPr id="0" name=""/>
        <dsp:cNvSpPr/>
      </dsp:nvSpPr>
      <dsp:spPr>
        <a:xfrm>
          <a:off x="2790224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Example:</a:t>
          </a:r>
        </a:p>
      </dsp:txBody>
      <dsp:txXfrm>
        <a:off x="2790224" y="2536938"/>
        <a:ext cx="2306250" cy="720000"/>
      </dsp:txXfrm>
    </dsp:sp>
    <dsp:sp modelId="{0CAA38D6-6E98-4E5C-9BDF-698BC3215EED}">
      <dsp:nvSpPr>
        <dsp:cNvPr id="0" name=""/>
        <dsp:cNvSpPr/>
      </dsp:nvSpPr>
      <dsp:spPr>
        <a:xfrm>
          <a:off x="5949787" y="691938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E9CCF-CE60-4753-AEBE-56297B29789F}">
      <dsp:nvSpPr>
        <dsp:cNvPr id="0" name=""/>
        <dsp:cNvSpPr/>
      </dsp:nvSpPr>
      <dsp:spPr>
        <a:xfrm>
          <a:off x="6249600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CE508-E1AE-4AE6-815F-45FEDC349F70}">
      <dsp:nvSpPr>
        <dsp:cNvPr id="0" name=""/>
        <dsp:cNvSpPr/>
      </dsp:nvSpPr>
      <dsp:spPr>
        <a:xfrm>
          <a:off x="5500068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INSERT INTO orders (user_id,total) VALUES (1,2499);</a:t>
          </a:r>
        </a:p>
      </dsp:txBody>
      <dsp:txXfrm>
        <a:off x="5500068" y="2536938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7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18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0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6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95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1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0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7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8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92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70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37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02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22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77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2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55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9908" y="1911096"/>
            <a:ext cx="6041898" cy="2076651"/>
          </a:xfrm>
        </p:spPr>
        <p:txBody>
          <a:bodyPr anchor="b">
            <a:normAutofit fontScale="90000"/>
          </a:bodyPr>
          <a:lstStyle/>
          <a:p>
            <a:r>
              <a:rPr lang="en-US" sz="4800">
                <a:solidFill>
                  <a:srgbClr val="FFFFFF"/>
                </a:solidFill>
              </a:rPr>
              <a:t>E-Commerce Website — Design and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0874" y="4353507"/>
            <a:ext cx="4299966" cy="93268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Made by Fesal Saiyed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This project presents the design and development of a dynamic e-commerce website integrating frontend, backend, and database components for seamless online shopping.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E-commerce has transformed how businesses and customers interact. This project focuses on building a full-stack solution demonstrating modern web technologies.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Existing online stores often lack personalization and secure integration. This project provides a reliable, scalable, and modular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• Design a responsive website</a:t>
            </a:r>
          </a:p>
          <a:p>
            <a:r>
              <a:rPr lang="en-US" sz="1900"/>
              <a:t>• Enable secure authentication</a:t>
            </a:r>
          </a:p>
          <a:p>
            <a:r>
              <a:rPr lang="en-US" sz="1900"/>
              <a:t>• Implement cart and checkout system</a:t>
            </a:r>
          </a:p>
          <a:p>
            <a:r>
              <a:rPr lang="en-US" sz="1900"/>
              <a:t>• Manage dynamic product database</a:t>
            </a:r>
          </a:p>
          <a:p>
            <a:r>
              <a:rPr lang="en-US" sz="1900"/>
              <a:t>• Provide admin control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Functional Requirements: Registration, Login, Product Listing, Cart, Checkout.</a:t>
            </a:r>
          </a:p>
          <a:p>
            <a:r>
              <a:rPr lang="en-US" sz="1900"/>
              <a:t>Non-Functional: Security, Speed, Scalability, Usability.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The system is cost-effective, technically feasible with PHP-MySQL stack, and operationally suitable for small to mid-sized retail stores.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The project follows a 3-tier architecture:</a:t>
            </a:r>
          </a:p>
          <a:p>
            <a:r>
              <a:rPr lang="en-US" sz="1900"/>
              <a:t>1. Presentation Layer: HTML/CSS/JS</a:t>
            </a:r>
          </a:p>
          <a:p>
            <a:r>
              <a:rPr lang="en-US" sz="1900"/>
              <a:t>2. Application Layer: PHP</a:t>
            </a:r>
          </a:p>
          <a:p>
            <a:r>
              <a:rPr lang="en-US" sz="1900"/>
              <a:t>3. Data Layer: 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User → Frontend → PHP Server → Database → Response to User.</a:t>
            </a:r>
          </a:p>
          <a:p>
            <a:endParaRPr lang="en-US" sz="1900"/>
          </a:p>
          <a:p>
            <a:r>
              <a:rPr lang="en-US" sz="1900"/>
              <a:t>Data flows through each layer using POST requests and SQL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 fontScale="90000"/>
          </a:bodyPr>
          <a:lstStyle/>
          <a:p>
            <a:r>
              <a:rPr lang="en-US" sz="4700">
                <a:solidFill>
                  <a:srgbClr val="FFFFFF"/>
                </a:solidFill>
              </a:rPr>
              <a:t>Entity Relationship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Entities: Users, Products, Orders, CartItems.</a:t>
            </a:r>
          </a:p>
          <a:p>
            <a:r>
              <a:rPr lang="en-US" sz="1900"/>
              <a:t>Relationships: Users→Orders (1:N), Orders→Products (N:M).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Frontend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 lnSpcReduction="10000"/>
          </a:bodyPr>
          <a:lstStyle/>
          <a:p>
            <a:r>
              <a:rPr lang="en-US" sz="1900"/>
              <a:t>Technologies: HTML5, CSS3, JavaScript</a:t>
            </a:r>
          </a:p>
          <a:p>
            <a:endParaRPr lang="en-US" sz="1900"/>
          </a:p>
          <a:p>
            <a:r>
              <a:rPr lang="en-US" sz="1900"/>
              <a:t>Example Code:</a:t>
            </a:r>
          </a:p>
          <a:p>
            <a:r>
              <a:rPr lang="en-US" sz="1900"/>
              <a:t>&lt;div class='product-card'&gt;</a:t>
            </a:r>
          </a:p>
          <a:p>
            <a:r>
              <a:rPr lang="en-US" sz="1900"/>
              <a:t> &lt;img src='bag1.jpeg'&gt;</a:t>
            </a:r>
          </a:p>
          <a:p>
            <a:r>
              <a:rPr lang="en-US" sz="1900"/>
              <a:t> &lt;h3&gt;Leather Tote&lt;/h3&gt;</a:t>
            </a:r>
          </a:p>
          <a:p>
            <a:r>
              <a:rPr lang="en-US" sz="1900"/>
              <a:t> &lt;p&gt;₹2,499&lt;/p&gt;</a:t>
            </a:r>
          </a:p>
          <a:p>
            <a:r>
              <a:rPr lang="en-US" sz="1900"/>
              <a:t> &lt;button&gt;Add to Cart&lt;/button&gt;</a:t>
            </a:r>
          </a:p>
          <a:p>
            <a:r>
              <a:rPr lang="en-US" sz="1900"/>
              <a:t>&lt;/div&gt;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CSS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Example Code:</a:t>
            </a:r>
          </a:p>
          <a:p>
            <a:r>
              <a:rPr lang="en-US" sz="1900"/>
              <a:t>.product-card {border:1px solid #ddd; border-radius:8px; padding:16px; text-align:center;}</a:t>
            </a:r>
          </a:p>
          <a:p>
            <a:r>
              <a:rPr lang="en-US" sz="1900"/>
              <a:t>.product-card:hover {transform: scale(1.05);}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JavaScript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JavaScript manages cart actions dynamically.</a:t>
            </a:r>
          </a:p>
          <a:p>
            <a:endParaRPr lang="en-US" sz="1900"/>
          </a:p>
          <a:p>
            <a:r>
              <a:rPr lang="en-US" sz="1900"/>
              <a:t>Example:</a:t>
            </a:r>
          </a:p>
          <a:p>
            <a:r>
              <a:rPr lang="en-US" sz="1900"/>
              <a:t>function addToCart(id){alert('Product '+id+' added to cart!');}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Backend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Backend logic is handled using PHP.</a:t>
            </a:r>
          </a:p>
          <a:p>
            <a:r>
              <a:rPr lang="en-US" sz="1900"/>
              <a:t>Example:</a:t>
            </a:r>
          </a:p>
          <a:p>
            <a:r>
              <a:rPr lang="en-US" sz="1900"/>
              <a:t>&lt;?php</a:t>
            </a:r>
          </a:p>
          <a:p>
            <a:r>
              <a:rPr lang="en-US" sz="1900"/>
              <a:t>$conn=mysqli_connect('localhost','root','','ecomfes');</a:t>
            </a:r>
          </a:p>
          <a:p>
            <a:r>
              <a:rPr lang="en-US" sz="1900"/>
              <a:t>if(!$conn){die('DB Connection Failed');}</a:t>
            </a:r>
          </a:p>
          <a:p>
            <a:r>
              <a:rPr lang="en-US" sz="1900"/>
              <a:t>?&gt;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User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PHP code manages login and sessions.</a:t>
            </a:r>
          </a:p>
          <a:p>
            <a:r>
              <a:rPr lang="en-US" sz="1900"/>
              <a:t>Example:</a:t>
            </a:r>
          </a:p>
          <a:p>
            <a:r>
              <a:rPr lang="en-US" sz="1900"/>
              <a:t>&lt;?php</a:t>
            </a:r>
          </a:p>
          <a:p>
            <a:r>
              <a:rPr lang="en-US" sz="1900"/>
              <a:t>session_start();</a:t>
            </a:r>
          </a:p>
          <a:p>
            <a:r>
              <a:rPr lang="en-US" sz="1900"/>
              <a:t>if($_POST['email']=='test@test.com'){$_SESSION['user']='Test';}</a:t>
            </a:r>
          </a:p>
          <a:p>
            <a:r>
              <a:rPr lang="en-US" sz="1900"/>
              <a:t>?&gt;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Cart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Manages add, remove, and checkout functionalities using PHP sessions.</a:t>
            </a:r>
          </a:p>
          <a:p>
            <a:endParaRPr lang="en-US" sz="1900"/>
          </a:p>
          <a:p>
            <a:r>
              <a:rPr lang="en-US" sz="1900"/>
              <a:t>Example:</a:t>
            </a:r>
          </a:p>
          <a:p>
            <a:r>
              <a:rPr lang="en-US" sz="1900"/>
              <a:t>$_SESSION['cart'][] = $product_id;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700"/>
              <a:t>Order Processing</a:t>
            </a: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2A473B52-F71B-4DD2-38AA-FB1AECED8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86730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Tables:</a:t>
            </a:r>
          </a:p>
          <a:p>
            <a:r>
              <a:rPr lang="en-US" sz="1900"/>
              <a:t>Users(id,name,email,password)</a:t>
            </a:r>
          </a:p>
          <a:p>
            <a:r>
              <a:rPr lang="en-US" sz="1900"/>
              <a:t>Products(id,name,price,image,description)</a:t>
            </a:r>
          </a:p>
          <a:p>
            <a:r>
              <a:rPr lang="en-US" sz="1900"/>
              <a:t>Orders(id,user_id,total,date)</a:t>
            </a:r>
          </a:p>
          <a:p>
            <a:r>
              <a:rPr lang="en-US" sz="1900"/>
              <a:t>Cart(id,user_id,product_id,quantity)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Sample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CREATE TABLE users(id INT AUTO_INCREMENT PRIMARY KEY,name VARCHAR(100),email VARCHAR(100),password VARCHAR(255));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Admin manages products via CRUD interface:</a:t>
            </a:r>
          </a:p>
          <a:p>
            <a:r>
              <a:rPr lang="en-US" sz="1900"/>
              <a:t>• Add/Edit/Delete Products</a:t>
            </a:r>
          </a:p>
          <a:p>
            <a:r>
              <a:rPr lang="en-US" sz="1900"/>
              <a:t>• View Orders</a:t>
            </a:r>
          </a:p>
          <a:p>
            <a:r>
              <a:rPr lang="en-US" sz="1900"/>
              <a:t>• Manage Users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Includes registration, login, profile, and order tracking features for users.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Testing Phases:</a:t>
            </a:r>
          </a:p>
          <a:p>
            <a:r>
              <a:rPr lang="en-US" sz="1900"/>
              <a:t>• Unit Testing for PHP Functions</a:t>
            </a:r>
          </a:p>
          <a:p>
            <a:r>
              <a:rPr lang="en-US" sz="1900"/>
              <a:t>• Integration Testing</a:t>
            </a:r>
          </a:p>
          <a:p>
            <a:r>
              <a:rPr lang="en-US" sz="1900"/>
              <a:t>• User Acceptance Testing.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Input validation ensures proper data integrity, preventing SQL injection using prepared statements.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Steps:</a:t>
            </a:r>
          </a:p>
          <a:p>
            <a:r>
              <a:rPr lang="en-US" sz="1900"/>
              <a:t>1. Install XAMPP</a:t>
            </a:r>
          </a:p>
          <a:p>
            <a:r>
              <a:rPr lang="en-US" sz="1900"/>
              <a:t>2. Copy files to htdocs</a:t>
            </a:r>
          </a:p>
          <a:p>
            <a:r>
              <a:rPr lang="en-US" sz="1900"/>
              <a:t>3. Configure MySQL</a:t>
            </a:r>
          </a:p>
          <a:p>
            <a:r>
              <a:rPr lang="en-US" sz="1900"/>
              <a:t>4. Test locally</a:t>
            </a:r>
          </a:p>
          <a:p>
            <a:r>
              <a:rPr lang="en-US" sz="1900"/>
              <a:t>5. Deploy to live host.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Website deployed using Apache and MySQL server. Environment ensures performance and uptime.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Website successfully enables browsing, login, cart, and checkout. Backend manages data securely.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Placeholder for images showing Home, Products, Cart, and Admin Dashboard.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The project achieved a fully functional e-commerce website integrating frontend, backend, and database modules.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• Add payment gateway integration</a:t>
            </a:r>
          </a:p>
          <a:p>
            <a:r>
              <a:rPr lang="en-US" sz="1900"/>
              <a:t>• AI-based recommendations</a:t>
            </a:r>
          </a:p>
          <a:p>
            <a:r>
              <a:rPr lang="en-US" sz="1900"/>
              <a:t>• Mobile app version</a:t>
            </a:r>
          </a:p>
          <a:p>
            <a:r>
              <a:rPr lang="en-US" sz="1900"/>
              <a:t>• Advanced admin analytics.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• PHP Manual (php.net)</a:t>
            </a:r>
          </a:p>
          <a:p>
            <a:r>
              <a:rPr lang="en-US" sz="1900"/>
              <a:t>• MySQL Documentation (mysql.com)</a:t>
            </a:r>
          </a:p>
          <a:p>
            <a:r>
              <a:rPr lang="en-US" sz="1900"/>
              <a:t>• W3Schools</a:t>
            </a:r>
          </a:p>
          <a:p>
            <a:r>
              <a:rPr lang="en-US" sz="1900"/>
              <a:t>• Stack Overflow.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r>
              <a:rPr lang="en-US" sz="1900"/>
              <a:t>Questions?</a:t>
            </a:r>
          </a:p>
          <a:p>
            <a:r>
              <a:rPr lang="en-US" sz="1900"/>
              <a:t>E-Commerce Website — Design and Development</a:t>
            </a:r>
          </a:p>
          <a:p>
            <a:r>
              <a:rPr lang="en-US" sz="1900"/>
              <a:t>Made by Fesal Saiyed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35</TotalTime>
  <Words>792</Words>
  <Application>Microsoft Office PowerPoint</Application>
  <PresentationFormat>On-screen Show (4:3)</PresentationFormat>
  <Paragraphs>124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Ion Boardroom</vt:lpstr>
      <vt:lpstr>E-Commerce Website — Design and Development</vt:lpstr>
      <vt:lpstr>Abstract</vt:lpstr>
      <vt:lpstr>Introduction</vt:lpstr>
      <vt:lpstr>Problem Statement</vt:lpstr>
      <vt:lpstr>Objectives</vt:lpstr>
      <vt:lpstr>System Analysis</vt:lpstr>
      <vt:lpstr>Feasibility Study</vt:lpstr>
      <vt:lpstr>Architecture</vt:lpstr>
      <vt:lpstr>Flow Diagram</vt:lpstr>
      <vt:lpstr>Entity Relationship Diagram</vt:lpstr>
      <vt:lpstr>Frontend Design</vt:lpstr>
      <vt:lpstr>CSS Styling</vt:lpstr>
      <vt:lpstr>JavaScript Functionality</vt:lpstr>
      <vt:lpstr>Backend Development</vt:lpstr>
      <vt:lpstr>User Authentication</vt:lpstr>
      <vt:lpstr>Cart Module</vt:lpstr>
      <vt:lpstr>Order Processing</vt:lpstr>
      <vt:lpstr>Database Schema</vt:lpstr>
      <vt:lpstr>Sample SQL</vt:lpstr>
      <vt:lpstr>Admin Panel</vt:lpstr>
      <vt:lpstr>User Module</vt:lpstr>
      <vt:lpstr>Testing</vt:lpstr>
      <vt:lpstr>Validation</vt:lpstr>
      <vt:lpstr>Deployment</vt:lpstr>
      <vt:lpstr>Hosting</vt:lpstr>
      <vt:lpstr>Results</vt:lpstr>
      <vt:lpstr>Screenshots</vt:lpstr>
      <vt:lpstr>Conclusion</vt:lpstr>
      <vt:lpstr>Future Scope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Fesal Saiyed</cp:lastModifiedBy>
  <cp:revision>3</cp:revision>
  <dcterms:created xsi:type="dcterms:W3CDTF">2013-01-27T09:14:16Z</dcterms:created>
  <dcterms:modified xsi:type="dcterms:W3CDTF">2025-11-10T21:48:12Z</dcterms:modified>
  <cp:category/>
</cp:coreProperties>
</file>